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Bruna: Olá! Somos Bruna, Inácio e Lucas, e este é o nosso trabalho de Inteligência Artificial sobre a predição de atropelamentos de fauna silvestre com redes neurais.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Bruna: O atropelamento é uma das maiores causas de morte de animais silvestres no Brasil. Medidas como passagens de fauna, cercas-guia e redutores de velocidade funcionam, mas custam caro, então não dá para instalar em toda a rodovia. A pergunta é: onde e quando elas devem ser instaladas? Para responder, usamos os dados do Projeto RodoFauna, do IBRAM do Distrito Federal, e montamos três problemas de aprendizado supervisionado: um binário, que prevê se um trecho de estrada vai ter atropelamento em um mês; um multiclasse, que prevê o grupo do animal atropelado; e uma regressão, que estima quantos atropelamentos cada trecho terá.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Bruna: A base cobre de abril de 2010 a março de 2015, com percursos sistemáticos em quatro trechos de rodovias perto de três unidades de conservação: ESECAE, Parque Nacional de Brasília e JBB/FAL/IBGE. O primeiro achado foi que cada registro aparecia duas vezes no arquivo. Das 10.328 linhas, sobraram 5.164; ficando só a fauna silvestre, ficamos com 4.422 registros. Os campos sexo, posição e hora estavam quase todos como “não identificado” e, como manda o enunciado, não foram usados.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Bruna: No mapa dá para ver que os atropelamentos não são uniformes: há trechos com mais de 100 registros e outros quase vazios. Ou seja, existem hotspots.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Bruna: Existe também uma sazonalidade forte: os meses de chuva, de outubro a março, concentram a maior parte dos casos, e répteis e anfíbios acompanham a chuva ainda mais de perto.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Bruna: As classes são muito desbalanceadas: as aves são 68 % dos registros e os anfíbios só 6 %. Entre as espécies é ainda pior: são 180 espécies, mas só 23 têm pelo menos 30 registros. Por isso fizemos a classificação multiclasse por grupo taxonômico, e não por espécie.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Inácio: A base só registra presenças, ou seja, animais encontrados. Para um problema binário precisamos também de exemplos negativos, e a simples ausência de ponto não prova ausência de risco. Nossa solução foi dividir a rota em células de 500 por 500 metros e usar só as células que comprovadamente fazem parte da rota monitorada, ou seja, que tiveram algum registro em algum momento dos cinco anos. Como a mesma rota era percorrida umas oito vezes por mês, uma dessas células sem registro em um mês foi percorrida e não teve atropelamento. Isso é uma ausência observada. No fim temos 299 células, 48 meses e 14.352 linhas, com 17,5 % de positivos.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Inácio: Os atributos usam só informação do passado, para não vazar o alvo: atropelamentos nos últimos meses, a média histórica da célula, a densidade nas células vizinhas, o mês codificado em seno e cosseno, a estação chuvosa, o esforço de amostragem e a unidade de conservação. No pré-processamento, as contagens passaram por log1p e padronização, as variáveis numéricas foram padronizadas e as categóricas viraram one-hot. Tudo foi ajustado só no treino. A padronização é essencial para a MLP: sem ela, a coordenada y, que fica na casa dos 8 milhões, dominaria 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Inácio: A divisão principal é temporal: treino de 2011 a 2013, validação no ano seguinte e teste no último ano. É assim que o modelo seria usado na prática, prevendo o próximo ano. O teste nunca foi usado para escolher hiperparâmetro, limiar ou época.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Inácio: A MLP base tem duas camadas ocultas, de 64 e 32 neurônios, com ReLU, otimizador Adam e early stopping.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Inácio: No problema binário, a MLP chegou a ROC-AUC de 0,775 no teste, praticamente empatada com o Random Forest, que teve 0,773, e com a Regressão Logística, que teve 0,768.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Inácio: Aqui aparece uma lição importante: a accuracy engana. Um modelo que sempre diz “não tem atropelamento” acerta 85 % das vezes e não serve para nada. A própria MLP com o limiar padrão de 0,5 só encontrava 17 % dos atropelamentos. Quando escolhemos o limiar na validação, em 0,28, o recall subiu para 53 % e o F1 foi de 0,24 para 0,43.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Inácio: As curvas mostram que a rede entra em overfitting muito rápido: a melhor época foi a sexta, e o early stopping segurou isso. O atributo mais importante, de longe, é o histórico da própria célula. Em seguida vem a sazonalidade. Quem já foi hotspot tende a continuar sendo.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Inácio: Também comparamos três divisões dos dados. A aleatória dá os números mais altos, mas é otimista, porque registros vizinhos no espaço e no tempo vazam entre treino e teste. Nas divisões espacial e temporal a AUC cai só de 1 a 2 centésimos, então o modelo generaliza bem.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Inácio: No multiclasse a tarefa é bem mais difícil: no mesmo trecho e no mesmo dia morrem aves, répteis e mamíferos. O Random Forest foi o melhor, com F1 macro de 0,43, contra 0,32 da MLP. Os pesos balanceados ajudaram a MLP a encontrar as minorias: o recall dos anfíbios subiu de 16 % para 56 %, à custa das 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Lucas: Na regressão prevemos o número de atropelamentos por célula e por mês. Na escala mensal, o R² é baixo para todos os modelos, no máximo 0,12. Isso é esperado: a média é 0,25 atropelamento por célula-mês, e prever exatamente qual mês terá um evento raro é basicamente ruído. Quando somamos as previsões do ano por célula, o R² sobe para até 0,54, e o gráfico real versus predito mostra que os modelos acertam bem onde os atropelamentos se concentram. Curiosamente, o melhor modelo foi a Regressão Linear. Depois do log e da padronização, a relação ficou quase linear, e a capacidade extra da MLP só trouxe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Lucas: Com o Optuna, fizemos 40 trials buscando a melhor ROC-AUC de validação, variando o número de camadas, os neurônios, a ativação, o otimizador, a taxa de aprendizado, a regularização L2 e o tamanho do batch. O melhor modelo tinha três camadas e ativação logística, e a AUC de validação subiu de 0,758 para 0,766. Mas esse ganho não se transferiu para o teste: lá a AUC ficou em 0,772, um pouco abaixo da base. A conclusão é que o gargalo é a informação disponível nos atributos, e não a arquitetura. Com 40 tentativas no mesmo conjunto de validação, parte do ganho foi ajuste ao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Lucas: Para estudar overfitting, treinamos uma rede grande, de 256-256-128 neurônios, sem regularização. Ela decorou o treino, com AUC de 0,9995, mas no teste caiu para 0,60. Com early stopping, a AUC de teste voltou para 0,775. O melhor equilíbrio foi juntar L2 e early stopping: diferença de só 0,026 entre treino e validação, e treino quase dez vezes mais rápido. E uma rede pequena, de 16 neurônios, ficou quase tão boa quanto a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Lucas: Por fim, a aplicação prática. Aplicamos a MLP a todas as células no ano de teste e ordenamos as células pelo risco previsto. A correlação com o que foi de fato observado foi de 0,78. As 10 % de células com maior risco previsto concentraram 28 % de todos os atropelamentos do ano. Ou seja, o modelo permite concentrar o orçamento de mitigação em poucos trechos, e a previsão mensal ainda ajuda a reforçar ações na época das chuvas.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Lucas: As conclusões principais são estas: primeiro, o histórico do trecho e a sazonalidade são o que mais explica os atropelamentos; segundo, em dados tabulares pequenos a MLP não superou os métodos clássicos, e mais complexidade não trouxe resultado melhor; terceiro, com classes desbalanceadas a accuracy engana, e ajustar o limiar faz muita diferença. Como limitações, a base só tem presenças, não tem a geometria das rodovias e cobre poucos trechos. Como trabalho futuro, incluir chuva diária, tráfego, velocidade e uso do solo permitiria aplicar o modelo até em rodovias que nunca foram monitoradas.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58"/>
            <a:ext cx="1056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67278"/>
            <a:ext cx="10566400" cy="367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58"/>
            <a:ext cx="1056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67278"/>
            <a:ext cx="10566400" cy="3677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400" y="812800"/>
            <a:ext cx="6350" cy="5232400"/>
          </a:xfrm>
          <a:prstGeom prst="rect">
            <a:avLst/>
          </a:prstGeom>
          <a:solidFill>
            <a:srgbClr val="ADB8D7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812800"/>
            <a:ext cx="10464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UFSM · INTELIGÊNCIA ARTIFICIAL · APRENDIZADO SUPERVISIONADO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1219200" y="1605280"/>
            <a:ext cx="981075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6000" b="1" i="0" spc="-10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PREDIÇÃO DE ATROPELAMENTOS DE FAUNA SILVESTRE COM REDES NEURAIS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1219200" y="4704080"/>
            <a:ext cx="1524000" cy="25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4932680"/>
            <a:ext cx="10464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DE3F1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Projeto RodoFauna · IBRAM/DF · abril de 2010 a março de 2015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9200" y="5796280"/>
            <a:ext cx="1046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BRUNA CAETANO · INÁCIO BOEMO · LUCAS AUED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13792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ONDE E QUANDO INSTALAR MEDIDAS DE MITIGAÇÃO?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7220"/>
            <a:ext cx="9156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Passagens de fauna, cercas-guia e redutores de velocidade funcionam, mas são caros demais para cobrir a rodovia inteira. Montamos três problemas supervisionados: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770505"/>
            <a:ext cx="3318933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932430"/>
            <a:ext cx="34185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01 · BINÁRIO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3247390"/>
            <a:ext cx="341850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Vai ter atropelamento?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3670300"/>
            <a:ext cx="34185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Ocorrência por trecho de 500 m em cada mês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6533" y="2770505"/>
            <a:ext cx="3318933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6533" y="2932430"/>
            <a:ext cx="34185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02 · MULTICLASSE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6533" y="3247390"/>
            <a:ext cx="341850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Qual grupo de animal?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36533" y="3670300"/>
            <a:ext cx="34185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Ave, mamífero, réptil ou anfíbio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0267" y="2770505"/>
            <a:ext cx="3318933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0267" y="2932430"/>
            <a:ext cx="34185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03 · REGRESSÃO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0267" y="3247390"/>
            <a:ext cx="341850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Quantos atropelamentos?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060267" y="3670300"/>
            <a:ext cx="34185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Contagem por trecho e por mês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ABERTURA E PROBLEMA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OS DADOS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CINCO ANOS DE PERCURSOS EM 4 TRECHOS DE RODOVIA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376805"/>
            <a:ext cx="3183467" cy="0"/>
          </a:xfrm>
          <a:prstGeom prst="line">
            <a:avLst/>
          </a:prstGeom>
          <a:noFill/>
          <a:ln w="19050">
            <a:solidFill>
              <a:srgbClr val="ADB8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538730"/>
            <a:ext cx="327897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spc="-100" kern="0" dirty="0">
                <a:solidFill>
                  <a:srgbClr val="7F8DB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10.328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800" y="3376930"/>
            <a:ext cx="3278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linhas no arquivo original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01067" y="2376805"/>
            <a:ext cx="3183467" cy="0"/>
          </a:xfrm>
          <a:prstGeom prst="line">
            <a:avLst/>
          </a:prstGeom>
          <a:noFill/>
          <a:ln w="19050">
            <a:solidFill>
              <a:srgbClr val="ADB8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1067" y="2538730"/>
            <a:ext cx="327897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spc="-100" kern="0" dirty="0">
                <a:solidFill>
                  <a:srgbClr val="7F8DB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5.164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301067" y="3376930"/>
            <a:ext cx="327897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depois de remover duplicatas: cada registro aparecia 2 vezes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89333" y="2367280"/>
            <a:ext cx="3589867" cy="2513330"/>
          </a:xfrm>
          <a:prstGeom prst="rect">
            <a:avLst/>
          </a:prstGeom>
          <a:solidFill>
            <a:srgbClr val="1B3A8F"/>
          </a:solidFill>
          <a:ln/>
        </p:spPr>
      </p:sp>
      <p:sp>
        <p:nvSpPr>
          <p:cNvPr id="11" name="Text 9"/>
          <p:cNvSpPr/>
          <p:nvPr/>
        </p:nvSpPr>
        <p:spPr>
          <a:xfrm>
            <a:off x="7992533" y="2519680"/>
            <a:ext cx="327897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4.422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992533" y="3357880"/>
            <a:ext cx="327897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DE3F1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registros de fauna silvestre usados no trabalho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5188586"/>
            <a:ext cx="105664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2800" y="5344161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Três unidades de conservação: ESECAE, Parque Nacional de Brasília e JBB/FAL/IBGE. Sexo, posição e hora quase sempre “não identificado” e fora dos preditores.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DADOS E ANÁLISE EXPLORATÓRIA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DISTRIBUIÇÃO ESPACIAL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137920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OS ATROPELAMENTOS SE CONCENTRAM EM HOTSPOTS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95145"/>
            <a:ext cx="105664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pic>
        <p:nvPicPr>
          <p:cNvPr id="5" name="Image 0" descr="Mapa dos registros de atropelamento ao longo das rodovias monitoradas no DF, com trechos de alta densidade">    </p:cNvPr>
          <p:cNvPicPr>
            <a:picLocks noChangeAspect="1"/>
          </p:cNvPicPr>
          <p:nvPr/>
        </p:nvPicPr>
        <p:blipFill>
          <a:blip r:embed="rId1"/>
          <a:srcRect l="-2857" r="-2857" t="0" b="0"/>
          <a:stretch/>
        </p:blipFill>
        <p:spPr>
          <a:xfrm>
            <a:off x="1397000" y="1918336"/>
            <a:ext cx="9398000" cy="381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DADOS E ANÁLISE EXPLORATÓRIA · FIGURAS/FIG03_MAPA.PNG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DISTRIBUIÇÃO TEMPORAL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 CHUVA PUXA OS ATROPELAMENTOS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38961"/>
            <a:ext cx="60960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pic>
        <p:nvPicPr>
          <p:cNvPr id="5" name="Image 0" descr="Atropelamentos por mês e por classe ao longo do período, com picos na estação chuvosa">    </p:cNvPr>
          <p:cNvPicPr>
            <a:picLocks noChangeAspect="1"/>
          </p:cNvPicPr>
          <p:nvPr/>
        </p:nvPicPr>
        <p:blipFill>
          <a:blip r:embed="rId1"/>
          <a:srcRect l="-65" r="-65" t="0" b="0"/>
          <a:stretch/>
        </p:blipFill>
        <p:spPr>
          <a:xfrm>
            <a:off x="812800" y="1950086"/>
            <a:ext cx="6096000" cy="3746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13600" y="2522854"/>
            <a:ext cx="42905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ESTAÇÃO CHUVOSA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13600" y="2787014"/>
            <a:ext cx="429056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spc="-10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OUT – MAR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213600" y="3447414"/>
            <a:ext cx="42905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meses chuvosos concentram a maior parte dos casos, com pico de novembro a fevereiro</a:t>
            </a:r>
            <a:endParaRPr lang="en-US" sz="1400" dirty="0"/>
          </a:p>
        </p:txBody>
      </p:sp>
      <p:pic>
        <p:nvPicPr>
          <p:cNvPr id="9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13600" y="4148454"/>
            <a:ext cx="4165600" cy="6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13600" y="4358004"/>
            <a:ext cx="429056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Répteis e anfíbios acompanham a chuva ainda mais de perto. O esforço é estável: 6 a 10 dias de percurso por mês.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DADOS E ANÁLISE EXPLORATÓRIA · FIGURAS/FIG04_TEMPORAL.PNG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CLASSES MUITO DESBALANCEADAS: POR ISSO, GRUPO TAXONÔMICO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75204"/>
            <a:ext cx="105664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pic>
        <p:nvPicPr>
          <p:cNvPr id="5" name="Image 0" descr="Distribuição dos registros por classe e pelas espécies mais frequentes">    </p:cNvPr>
          <p:cNvPicPr>
            <a:picLocks noChangeAspect="1"/>
          </p:cNvPicPr>
          <p:nvPr/>
        </p:nvPicPr>
        <p:blipFill>
          <a:blip r:embed="rId1"/>
          <a:srcRect l="-2273" r="-2273" t="0" b="0"/>
          <a:stretch/>
        </p:blipFill>
        <p:spPr>
          <a:xfrm>
            <a:off x="1714500" y="2386329"/>
            <a:ext cx="8763000" cy="279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485129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Aves 68 %</a:t>
            </a: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 · répteis 16 % · mamíferos 10 % · </a:t>
            </a:r>
            <a:r>
              <a:rPr lang="en-US" sz="14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anfíbios 6 %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48400" y="5485129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180 espécies, só </a:t>
            </a:r>
            <a:r>
              <a:rPr lang="en-US" sz="14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23</a:t>
            </a: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 com 30 registros ou mais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DADOS E ANÁLISE EXPLORATÓRIA · FIGURAS/FIG02_CLASSES_ESPECIES.PNG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METODOLOGIA · CLASSE NEGATIVA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 BASE SÓ TEM PRESENÇAS. DE ONDE VÊM OS NEGATIVOS?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376804"/>
            <a:ext cx="2878667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538729"/>
            <a:ext cx="29650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CÉLULAS DE 500 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2907029"/>
            <a:ext cx="29650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 rota é dividida em quadrados de 500 × 500 m sobre as coordenadas UTM</a:t>
            </a:r>
            <a:endParaRPr lang="en-US" sz="13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3867" y="2817496"/>
            <a:ext cx="457200" cy="254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53467" y="2376804"/>
            <a:ext cx="2878667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53467" y="2538729"/>
            <a:ext cx="29650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SÓ A ROTA MONITORADA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453467" y="2907029"/>
            <a:ext cx="29650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Ficam as células com algum registro de qualquer animal em 5 anos</a:t>
            </a:r>
            <a:endParaRPr lang="en-US" sz="13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84533" y="2817496"/>
            <a:ext cx="457200" cy="254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4133" y="2376804"/>
            <a:ext cx="3285067" cy="1135380"/>
          </a:xfrm>
          <a:prstGeom prst="rect">
            <a:avLst/>
          </a:prstGeom>
          <a:solidFill>
            <a:srgbClr val="1B3A8F"/>
          </a:solidFill>
          <a:ln/>
        </p:spPr>
      </p:sp>
      <p:sp>
        <p:nvSpPr>
          <p:cNvPr id="13" name="Text 9"/>
          <p:cNvSpPr/>
          <p:nvPr/>
        </p:nvSpPr>
        <p:spPr>
          <a:xfrm>
            <a:off x="8297333" y="2529204"/>
            <a:ext cx="29650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AUSÊNCIA OBSERVADA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297333" y="2897504"/>
            <a:ext cx="29650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DE3F1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Percorrida ~8 vezes no mês e sem atropelamento = negativo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2800" y="3829686"/>
            <a:ext cx="105664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2800" y="3985261"/>
            <a:ext cx="255897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299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812800" y="4490721"/>
            <a:ext cx="255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CÉLULAS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300413" y="3832861"/>
            <a:ext cx="0" cy="87122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06788" y="3985261"/>
            <a:ext cx="255897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48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3506788" y="4490721"/>
            <a:ext cx="255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MESES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94400" y="3832861"/>
            <a:ext cx="0" cy="87122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00775" y="3985261"/>
            <a:ext cx="255897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14.352</a:t>
            </a: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6200775" y="4490721"/>
            <a:ext cx="255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LINHAS CÉLULA × MÊS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688388" y="3832861"/>
            <a:ext cx="0" cy="87122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894763" y="3985261"/>
            <a:ext cx="255897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17,5 %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8894763" y="4490721"/>
            <a:ext cx="255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POSITIVOS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METODOLOGIA · ATRIBUTOS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SÓ INFORMAÇÃO DO PASSADO, PARA NÃO VAZAR O ALVO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376804"/>
            <a:ext cx="51308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538729"/>
            <a:ext cx="528472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ATRIBUTOS CRIADOS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1032" y="2957829"/>
            <a:ext cx="5198872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Atropelamentos 1, 2, 3 e 12 meses antes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Média histórica da célula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Densidade nas 8 células vizinhas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Mês em seno e cosseno, estação chuvosa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Esforço de amostragem e unidade de conservação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400" y="2376804"/>
            <a:ext cx="51308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8400" y="2538729"/>
            <a:ext cx="528472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PRÉ-PROCESSAMENTO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26632" y="2957829"/>
            <a:ext cx="51988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Contagens: log1p + padronização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Numéricos: StandardScaler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Categóricos: one-hot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Tudo ajustado só no treino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48400" y="4151629"/>
            <a:ext cx="5130800" cy="502920"/>
          </a:xfrm>
          <a:prstGeom prst="rect">
            <a:avLst/>
          </a:prstGeom>
          <a:solidFill>
            <a:srgbClr val="1B3A8F"/>
          </a:solidFill>
          <a:ln/>
        </p:spPr>
        <p:txBody>
          <a:bodyPr wrap="square" lIns="152400" tIns="127000" rIns="7620" bIns="1016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Sem padronizar, a coordenada y (~8 milhões) dominaria a rede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METODOLOGIA · DIVISÃO DOS DADOS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DIVISÃO TEMPORAL: PREVER O PRÓXIMO ANO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9921"/>
          <a:ext cx="10553700" cy="1757680"/>
        </p:xfrm>
        <a:graphic>
          <a:graphicData uri="http://schemas.openxmlformats.org/drawingml/2006/table">
            <a:tbl>
              <a:tblPr/>
              <a:tblGrid>
                <a:gridCol w="2321814"/>
                <a:gridCol w="4010406"/>
                <a:gridCol w="2110740"/>
                <a:gridCol w="2110740"/>
              </a:tblGrid>
              <a:tr h="43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Conjunto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Período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Linhas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% positivos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Treino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abr/2011 – mar/2013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7.176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18,6 %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Validação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abr/2013 – mar/2014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3.588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17,5 %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Teste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abr/2014 – mar/2015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3.588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15,1 %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5037454"/>
            <a:ext cx="95250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199379"/>
            <a:ext cx="9810750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 TESTE NUNCA FOI USADO PARA ESCOLHER HIPERPARÂMETRO, LIMIAR OU ÉPOCA.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METODOLOGIA · OS 12 PRIMEIROS MESES SERVEM SÓ DE HISTÓRICO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 · ARQUITETURA</a:t>
            </a:r>
            <a:endParaRPr lang="en-US" sz="12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1102358"/>
            <a:ext cx="1088339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 MLP BASE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415261" y="2324100"/>
            <a:ext cx="343681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ReLU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12800" y="1885950"/>
            <a:ext cx="3524250" cy="2508250"/>
          </a:xfrm>
          <a:prstGeom prst="rect">
            <a:avLst/>
          </a:prstGeom>
          <a:solidFill>
            <a:srgbClr val="1B3A8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038350"/>
            <a:ext cx="3211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CAMADAS OCULTAS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2302508"/>
            <a:ext cx="321138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64 → 32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337050" y="1895475"/>
            <a:ext cx="352425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54950" y="1895475"/>
            <a:ext cx="352425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54950" y="2057400"/>
            <a:ext cx="36299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OTIMIZADOR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54950" y="2321558"/>
            <a:ext cx="362997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Adam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854950" y="2852421"/>
            <a:ext cx="36299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taxa de aprendizado 0,001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4397375"/>
            <a:ext cx="352425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4552950"/>
            <a:ext cx="36299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SAÍDA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4817108"/>
            <a:ext cx="362997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sigmoide · softmax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2800" y="5189221"/>
            <a:ext cx="36299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entropia cruzada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37050" y="4397375"/>
            <a:ext cx="352425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54950" y="4397375"/>
            <a:ext cx="352425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54950" y="4552950"/>
            <a:ext cx="36299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EARLY STOPPING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54950" y="4817108"/>
            <a:ext cx="362997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paciência 20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54950" y="5189221"/>
            <a:ext cx="36299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restaura os melhores pesos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18330" y="2057400"/>
            <a:ext cx="35462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ATIVAÇÃO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15155" y="4819650"/>
            <a:ext cx="3556070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128 · 1e-4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418330" y="5187950"/>
            <a:ext cx="355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no binário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18330" y="4552950"/>
            <a:ext cx="355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BATCH · L2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 BINÁRIA · TESTE ABR/2014 – MAR/2015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MLP, RANDOM FOREST E LOGÍSTICA FICAM EMPATADOS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79979"/>
          <a:ext cx="10553700" cy="2316480"/>
        </p:xfrm>
        <a:graphic>
          <a:graphicData uri="http://schemas.openxmlformats.org/drawingml/2006/table">
            <a:tbl>
              <a:tblPr/>
              <a:tblGrid>
                <a:gridCol w="3588258"/>
                <a:gridCol w="1160907"/>
                <a:gridCol w="1477518"/>
                <a:gridCol w="1371981"/>
                <a:gridCol w="1266444"/>
                <a:gridCol w="1688592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Modelo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Limiar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Precision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Recall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F1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ROC-AUC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MLP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0,28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0,366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0,534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0,434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0,775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Random Forest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0,26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0,355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0,593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0,444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0,773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Regressão Logística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0,22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0,356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0,586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0,443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0,768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Gradient Boosting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0,24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0,334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0,576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0,423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0,757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F5F95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Dummy (sempre “não”)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F5F95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0,50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F5F95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F5F95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F5F95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F5F95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0,500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001258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Limiar escolhido na validação para maximizar o F1. Diferenças de AUC dessa ordem estão dentro da variação entre sementes.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 · RESULTADOS/BINARIO_TEMPORAL.CSV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UMA LIÇÃO IMPORTANTE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40"/>
              </a:lnSpc>
              <a:buNone/>
            </a:pPr>
            <a:r>
              <a:rPr lang="en-US" sz="7200" b="1" i="0" spc="-15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 ACCURACY ENGANA.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812800" y="4279267"/>
            <a:ext cx="50800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4434842"/>
            <a:ext cx="52324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85 %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800" y="5273042"/>
            <a:ext cx="523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DE3F1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de accuracy para um modelo que sempre diz “não tem atropelamento” e não serve para nada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99200" y="4279267"/>
            <a:ext cx="50800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99200" y="4434842"/>
            <a:ext cx="52324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17 % → 53 %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299200" y="5273042"/>
            <a:ext cx="523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DE3F1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de recall na MLP ao trocar o limiar 0,5 por 0,28, escolhido na validação. F1 de 0,24 para 0,43.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 BINÁRIA · TREINO E ATRIBUTOS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OVERFITTING RÁPIDO; O HISTÓRICO DA CÉLULA MANDA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75204"/>
            <a:ext cx="24130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pic>
        <p:nvPicPr>
          <p:cNvPr id="5" name="Image 0" descr="Curvas de loss e ROC-AUC da MLP binária em treino e validação, com a parada antecipada marcada">    </p:cNvPr>
          <p:cNvPicPr>
            <a:picLocks noChangeAspect="1"/>
          </p:cNvPicPr>
          <p:nvPr/>
        </p:nvPicPr>
        <p:blipFill>
          <a:blip r:embed="rId1"/>
          <a:srcRect l="-3541" r="-3541" t="0" b="0"/>
          <a:stretch/>
        </p:blipFill>
        <p:spPr>
          <a:xfrm>
            <a:off x="812800" y="2386329"/>
            <a:ext cx="2413000" cy="31547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642713"/>
            <a:ext cx="2485390" cy="224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spc="10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MELHOR ÉPOCA: A 6ª</a:t>
            </a:r>
            <a:endParaRPr lang="en-US" sz="1121" dirty="0"/>
          </a:p>
        </p:txBody>
      </p:sp>
      <p:sp>
        <p:nvSpPr>
          <p:cNvPr id="7" name="Shape 4"/>
          <p:cNvSpPr/>
          <p:nvPr/>
        </p:nvSpPr>
        <p:spPr>
          <a:xfrm>
            <a:off x="3530600" y="2275204"/>
            <a:ext cx="78486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pic>
        <p:nvPicPr>
          <p:cNvPr id="8" name="Image 1" descr="Importância por permutação dos atributos para a MLP e o Random Forest">    </p:cNvPr>
          <p:cNvPicPr>
            <a:picLocks noChangeAspect="1"/>
          </p:cNvPicPr>
          <p:nvPr/>
        </p:nvPicPr>
        <p:blipFill>
          <a:blip r:embed="rId2"/>
          <a:srcRect l="-2877" r="-2877" t="0" b="0"/>
          <a:stretch/>
        </p:blipFill>
        <p:spPr>
          <a:xfrm>
            <a:off x="5232400" y="2386329"/>
            <a:ext cx="4445000" cy="31523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03354" y="5640282"/>
            <a:ext cx="5102987" cy="227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Média histórica da célula: queda de 0,085 na AUC quando embaralhada</a:t>
            </a:r>
            <a:endParaRPr lang="en-US" sz="1159" dirty="0"/>
          </a:p>
        </p:txBody>
      </p:sp>
      <p:sp>
        <p:nvSpPr>
          <p:cNvPr id="10" name="Text 6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 · FIGURAS/FIG07 E FIG10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 BINÁRIA · GENERALIZAÇÃO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 DIVISÃO ALEATÓRIA É OTIMISTA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9921"/>
          <a:ext cx="10553700" cy="1757680"/>
        </p:xfrm>
        <a:graphic>
          <a:graphicData uri="http://schemas.openxmlformats.org/drawingml/2006/table">
            <a:tbl>
              <a:tblPr/>
              <a:tblGrid>
                <a:gridCol w="4221480"/>
                <a:gridCol w="2110740"/>
                <a:gridCol w="2110740"/>
                <a:gridCol w="2110740"/>
              </a:tblGrid>
              <a:tr h="43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Divisão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MLP AUC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RF AUC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MLP F1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Aleatória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0,787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0,787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0,486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Espacial (blocos de 3 km)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0,768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0,761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0,460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Temporal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0,775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0,773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0,434</a:t>
                      </a:r>
                      <a:endParaRPr lang="en-US" sz="16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5111117"/>
            <a:ext cx="95250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273042"/>
            <a:ext cx="981075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Registros vizinhos no espaço e no tempo vazam entre treino e teste. Nas divisões espacial e temporal a AUC cai só </a:t>
            </a:r>
            <a:r>
              <a:rPr lang="en-US" sz="16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0,01 a 0,02</a:t>
            </a:r>
            <a:r>
              <a:rPr lang="en-US" sz="16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: o modelo generaliza bem.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 · RESULTADOS/BINARIO_DIVISOES.CSV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 MULTICLASSE · DIVISÃO ALEATÓRIA ESTRATIFICADA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GRUPO DO ANIMAL: TAREFA DIFÍCIL, RANDOM FOREST VENCE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79979"/>
          <a:ext cx="6337300" cy="2316480"/>
        </p:xfrm>
        <a:graphic>
          <a:graphicData uri="http://schemas.openxmlformats.org/drawingml/2006/table">
            <a:tbl>
              <a:tblPr/>
              <a:tblGrid>
                <a:gridCol w="3295396"/>
                <a:gridCol w="1520952"/>
                <a:gridCol w="1520952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Modelo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Accuracy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F1 macro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Random Forest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0,584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0,425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6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Gradient Boosting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0,559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0,417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MLP sem pesos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0,664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0,341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MLP com pesos balanceados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0,437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0,322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F5F95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Dummy (sempre “aves”)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F5F95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0,681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4F5F95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0,203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67600" y="2367279"/>
            <a:ext cx="3911600" cy="2921000"/>
          </a:xfrm>
          <a:prstGeom prst="rect">
            <a:avLst/>
          </a:prstGeom>
          <a:solidFill>
            <a:srgbClr val="1B3A8F"/>
          </a:solidFill>
          <a:ln/>
        </p:spPr>
      </p:sp>
      <p:sp>
        <p:nvSpPr>
          <p:cNvPr id="6" name="Text 3"/>
          <p:cNvSpPr/>
          <p:nvPr/>
        </p:nvSpPr>
        <p:spPr>
          <a:xfrm>
            <a:off x="7670800" y="2570479"/>
            <a:ext cx="36103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RECALL DOS ANFÍBIOS NA MLP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670800" y="2860042"/>
            <a:ext cx="361035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16 % → 56 %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670800" y="3416300"/>
            <a:ext cx="3610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DE3F1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com pesos balanceados, à custa das aves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55930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No mesmo trecho e no mesmo dia morrem aves, répteis e mamíferos: o sinal é sobretudo sazonal e espacial.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CLASSIFICAÇÃO · RESULTADOS/MULTICLASSE_ALEATORIO.CSV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REGRESSÃO · ATROPELAMENTOS POR CÉLULA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MÊS A MÊS É RUÍDO; NO ANO, O MODELO ACERTA ONDE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75210"/>
            <a:ext cx="3183467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386335"/>
            <a:ext cx="327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R² CÉLULA-MÊS (MÁXIMO)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625092"/>
            <a:ext cx="327897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0,12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01067" y="2275210"/>
            <a:ext cx="3183467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1067" y="2386335"/>
            <a:ext cx="327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R² CÉLULA-ANO (MÁXIMO)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01067" y="2625092"/>
            <a:ext cx="327897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0,54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89333" y="2265685"/>
            <a:ext cx="3589867" cy="763270"/>
          </a:xfrm>
          <a:prstGeom prst="rect">
            <a:avLst/>
          </a:prstGeom>
          <a:solidFill>
            <a:srgbClr val="1B3A8F"/>
          </a:solidFill>
          <a:ln/>
        </p:spPr>
      </p:sp>
      <p:sp>
        <p:nvSpPr>
          <p:cNvPr id="11" name="Text 9"/>
          <p:cNvSpPr/>
          <p:nvPr/>
        </p:nvSpPr>
        <p:spPr>
          <a:xfrm>
            <a:off x="7992533" y="2367285"/>
            <a:ext cx="327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MELHOR MODELO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92533" y="2606042"/>
            <a:ext cx="327897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Regressão Linear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2800" y="3235325"/>
            <a:ext cx="105664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800" y="5838825"/>
            <a:ext cx="105664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pic>
        <p:nvPicPr>
          <p:cNvPr id="15" name="Image 0" descr="Gráficos de valor real versus predito e de resíduos da regressão">    </p:cNvPr>
          <p:cNvPicPr>
            <a:picLocks noChangeAspect="1"/>
          </p:cNvPicPr>
          <p:nvPr/>
        </p:nvPicPr>
        <p:blipFill>
          <a:blip r:embed="rId1"/>
          <a:srcRect l="0" r="0" t="-68" b="-68"/>
          <a:stretch/>
        </p:blipFill>
        <p:spPr>
          <a:xfrm>
            <a:off x="1460500" y="3171825"/>
            <a:ext cx="9271000" cy="27305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REGRESSÃO · MÉDIA DE 0,25 ATROPELAMENTO POR CÉLULA-MÊS · FIGURAS/FIG14_REGRESSAO_REAL_PREDITO.PNG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OTIMIZAÇÃO COM OPTUNA · 40 TRIALS, AUC DE VALIDAÇÃO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MELHOROU NA VALIDAÇÃO, NÃO NO TESTE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98315"/>
          <a:ext cx="10553700" cy="1158240"/>
        </p:xfrm>
        <a:graphic>
          <a:graphicData uri="http://schemas.openxmlformats.org/drawingml/2006/table">
            <a:tbl>
              <a:tblPr/>
              <a:tblGrid>
                <a:gridCol w="4221480"/>
                <a:gridCol w="2110740"/>
                <a:gridCol w="2110740"/>
                <a:gridCol w="2110740"/>
              </a:tblGrid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Modelo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AUC validação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AUC teste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F1 teste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MLP base (64 → 32)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0,758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0,775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0,434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32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MLP otimizada (32 → 26 → 58, logística)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0,766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0,772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3A8F"/>
                          </a:solidFill>
                          <a:latin typeface="IBM Plex Sans Condensed" pitchFamily="34" charset="0"/>
                          <a:ea typeface="IBM Plex Sans Condensed" pitchFamily="34" charset="-122"/>
                          <a:cs typeface="IBM Plex Sans Condensed" pitchFamily="34" charset="-120"/>
                        </a:rPr>
                        <a:t>0,419</a:t>
                      </a:r>
                      <a:endParaRPr lang="en-US" sz="1400" dirty="0">
                        <a:latin typeface="IBM Plex Sans Condensed" charset="0"/>
                        <a:ea typeface="IBM Plex Sans Condensed" charset="0"/>
                        <a:cs typeface="IBM Plex Sans Condensed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3162933"/>
            <a:ext cx="105664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2800" y="5838822"/>
            <a:ext cx="105664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pic>
        <p:nvPicPr>
          <p:cNvPr id="7" name="Image 0" descr="Histórico dos trials do Optuna e importância dos hiperparâmetro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51000" y="3230885"/>
            <a:ext cx="8890000" cy="2540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 GARGALO É A INFORMAÇÃO DOS ATRIBUTOS, NÃO A ARQUITETURA · FIGURAS/FIG15_OPTUNA.PNG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REGULARIZAÇÃO · REDE GRANDE 256-256-128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 REDE GRANDE DECORA O TREINO; EARLY STOPPING RESOLVE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75210"/>
            <a:ext cx="3183467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386335"/>
            <a:ext cx="327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SEM REGULARIZAÇÃO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2625092"/>
            <a:ext cx="327897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treino 0,9995 · teste 0,60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01067" y="2275210"/>
            <a:ext cx="3183467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1067" y="2386335"/>
            <a:ext cx="327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COM EARLY STOPPING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01067" y="2625092"/>
            <a:ext cx="327897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teste 0,775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89333" y="2265685"/>
            <a:ext cx="3589867" cy="763270"/>
          </a:xfrm>
          <a:prstGeom prst="rect">
            <a:avLst/>
          </a:prstGeom>
          <a:solidFill>
            <a:srgbClr val="1B3A8F"/>
          </a:solidFill>
          <a:ln/>
        </p:spPr>
      </p:sp>
      <p:sp>
        <p:nvSpPr>
          <p:cNvPr id="11" name="Text 9"/>
          <p:cNvSpPr/>
          <p:nvPr/>
        </p:nvSpPr>
        <p:spPr>
          <a:xfrm>
            <a:off x="7992533" y="2367285"/>
            <a:ext cx="32789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L2 + EARLY STOPPING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92533" y="2606042"/>
            <a:ext cx="327897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gap 0,026 · 12 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12800" y="3235325"/>
            <a:ext cx="105664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800" y="5838825"/>
            <a:ext cx="105664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pic>
        <p:nvPicPr>
          <p:cNvPr id="15" name="Image 0" descr="Curvas de AUC e loss em treino e validação para as cinco configurações de regularização">    </p:cNvPr>
          <p:cNvPicPr>
            <a:picLocks noChangeAspect="1"/>
          </p:cNvPicPr>
          <p:nvPr/>
        </p:nvPicPr>
        <p:blipFill>
          <a:blip r:embed="rId1"/>
          <a:srcRect l="-2093" r="-2093" t="0" b="0"/>
          <a:stretch/>
        </p:blipFill>
        <p:spPr>
          <a:xfrm>
            <a:off x="1016000" y="3171825"/>
            <a:ext cx="10160000" cy="27305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5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AUC DE TESTE · UMA REDE DE 16 NEURÔNIOS CHEGA A 0,761 · FIGURAS/FIG17_REGULARIZACAO.PNG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APLICAÇÃO · ANO DE TESTE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i="0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10 % DOS TRECHOS CONCENTRAM 28 % DOS ATROPELAMENTOS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75210"/>
            <a:ext cx="69850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pic>
        <p:nvPicPr>
          <p:cNvPr id="5" name="Image 0" descr="Mapa de risco previsto por célula ao lado do total de atropelamentos observado no ano de teste">    </p:cNvPr>
          <p:cNvPicPr>
            <a:picLocks noChangeAspect="1"/>
          </p:cNvPicPr>
          <p:nvPr/>
        </p:nvPicPr>
        <p:blipFill>
          <a:blip r:embed="rId1"/>
          <a:srcRect l="0" r="0" t="-13636" b="-13636"/>
          <a:stretch/>
        </p:blipFill>
        <p:spPr>
          <a:xfrm>
            <a:off x="812800" y="2285367"/>
            <a:ext cx="6985000" cy="355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02600" y="2275210"/>
            <a:ext cx="32766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02600" y="2386335"/>
            <a:ext cx="337489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0,78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102600" y="2891792"/>
            <a:ext cx="33748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correlação de Spearman entre risco previsto e observado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02600" y="3649985"/>
            <a:ext cx="32766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02600" y="3754760"/>
            <a:ext cx="337489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15 de 30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102600" y="4260217"/>
            <a:ext cx="33748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células do top 10 % previsto também no top 10 % real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02600" y="5018410"/>
            <a:ext cx="32766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02600" y="5123185"/>
            <a:ext cx="337489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204 de 724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102600" y="5628642"/>
            <a:ext cx="33748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atropelamentos caem nessas 30 células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42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HOTSPOTS · RESULTADOS/HOTSPOTS_PREVISTOS.CSV · FIGURAS/FIG18_HOTSPOTS.PNG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3A8F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34533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102358"/>
            <a:ext cx="3453384" cy="2197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6000" b="1" i="0" spc="-10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 QUE APRENDEMOS.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361942"/>
            <a:ext cx="345338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978400" y="822325"/>
            <a:ext cx="6400800" cy="0"/>
          </a:xfrm>
          <a:prstGeom prst="line">
            <a:avLst/>
          </a:prstGeom>
          <a:noFill/>
          <a:ln w="19050">
            <a:solidFill>
              <a:srgbClr val="1B3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400" y="958850"/>
            <a:ext cx="65928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78400" y="1223008"/>
            <a:ext cx="659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Histórico do trecho e sazonalidade explicam a maior parte dos atropelamentos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78400" y="1998340"/>
            <a:ext cx="64008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8400" y="2128515"/>
            <a:ext cx="65928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78400" y="2392685"/>
            <a:ext cx="659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Em dados tabulares pequenos, a MLP não superou os clássicos, e mais complexidade não ajudou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78400" y="3168017"/>
            <a:ext cx="64008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8400" y="3298192"/>
            <a:ext cx="65928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78400" y="3562350"/>
            <a:ext cx="6592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3A8F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Com classes desbalanceadas, a accuracy engana e o limiar faz muita diferença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78400" y="5249540"/>
            <a:ext cx="6400800" cy="0"/>
          </a:xfrm>
          <a:prstGeom prst="line">
            <a:avLst/>
          </a:prstGeom>
          <a:noFill/>
          <a:ln w="6350">
            <a:solidFill>
              <a:srgbClr val="ADB8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8400" y="5379715"/>
            <a:ext cx="65928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Limitações: só presenças, sem geometria das rodovias, poucos trechos. Futuro: chuva, tráfego, velocidade e uso do solo para prever rodovias nunca monitoradas.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2"/>
            <a:ext cx="3662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ADB8D7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BRUNA · INÁCIO · LUCAS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4F5F95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ropelamentos de Fauna Silvestre">
  <a:themeElements>
    <a:clrScheme name="Atropelamentos de Fauna Silvestre">
      <a:dk1>
        <a:srgbClr val="1B3A8F"/>
      </a:dk1>
      <a:lt1>
        <a:srgbClr val="FFFFFF"/>
      </a:lt1>
      <a:dk2>
        <a:srgbClr val="546BAB"/>
      </a:dk2>
      <a:lt2>
        <a:srgbClr val="E8EBF4"/>
      </a:lt2>
      <a:accent1>
        <a:srgbClr val="4F5F95"/>
      </a:accent1>
      <a:accent2>
        <a:srgbClr val="ADB8D7"/>
      </a:accent2>
      <a:accent3>
        <a:srgbClr val="7F8DB8"/>
      </a:accent3>
      <a:accent4>
        <a:srgbClr val="DDE3F1"/>
      </a:accent4>
      <a:accent5>
        <a:srgbClr val="9AA0A6"/>
      </a:accent5>
      <a:accent6>
        <a:srgbClr val="7689BC"/>
      </a:accent6>
      <a:hlink>
        <a:srgbClr val="0563C1"/>
      </a:hlink>
      <a:folHlink>
        <a:srgbClr val="954F72"/>
      </a:folHlink>
    </a:clrScheme>
    <a:fontScheme name="Atropelamentos de Fauna Silvestre">
      <a:majorFont>
        <a:latin typeface="IBM Plex Sans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Condense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Atropelamentos de Fauna Silvestre</dc:title>
  <dc:subject/>
  <dc:creator/>
  <cp:lastModifiedBy/>
  <cp:revision>1</cp:revision>
  <dcterms:created xsi:type="dcterms:W3CDTF">2026-10-20T22:45:44Z</dcterms:created>
  <dcterms:modified xsi:type="dcterms:W3CDTF">2026-10-20T22:45:44Z</dcterms:modified>
</cp:coreProperties>
</file>